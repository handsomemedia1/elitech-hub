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Playfair Displ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3A5A9E-73E6-4DCD-A883-B24099CEC320}">
  <a:tblStyle styleId="{3B3A5A9E-73E6-4DCD-A883-B24099CEC32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Italic.fntdata"/><Relationship Id="rId11" Type="http://schemas.openxmlformats.org/officeDocument/2006/relationships/slide" Target="slides/slide5.xml"/><Relationship Id="rId22" Type="http://schemas.openxmlformats.org/officeDocument/2006/relationships/font" Target="fonts/Lato-bold.fntdata"/><Relationship Id="rId10" Type="http://schemas.openxmlformats.org/officeDocument/2006/relationships/slide" Target="slides/slide4.xml"/><Relationship Id="rId21" Type="http://schemas.openxmlformats.org/officeDocument/2006/relationships/font" Target="fonts/Lato-regular.fntdata"/><Relationship Id="rId13" Type="http://schemas.openxmlformats.org/officeDocument/2006/relationships/slide" Target="slides/slide7.xml"/><Relationship Id="rId24" Type="http://schemas.openxmlformats.org/officeDocument/2006/relationships/font" Target="fonts/Lato-boldItalic.fntdata"/><Relationship Id="rId12" Type="http://schemas.openxmlformats.org/officeDocument/2006/relationships/slide" Target="slides/slide6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fairDisplay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layfairDisplay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ayfairDispl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32.png"/><Relationship Id="rId7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11" Type="http://schemas.openxmlformats.org/officeDocument/2006/relationships/image" Target="../media/image12.png"/><Relationship Id="rId10" Type="http://schemas.openxmlformats.org/officeDocument/2006/relationships/image" Target="../media/image2.png"/><Relationship Id="rId12" Type="http://schemas.openxmlformats.org/officeDocument/2006/relationships/image" Target="../media/image10.png"/><Relationship Id="rId9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25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29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11" Type="http://schemas.openxmlformats.org/officeDocument/2006/relationships/image" Target="../media/image27.png"/><Relationship Id="rId10" Type="http://schemas.openxmlformats.org/officeDocument/2006/relationships/image" Target="../media/image23.png"/><Relationship Id="rId9" Type="http://schemas.openxmlformats.org/officeDocument/2006/relationships/image" Target="../media/image34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33.png"/><Relationship Id="rId8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90773"/>
            <a:ext cx="11049000" cy="447645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05351" y="1771798"/>
            <a:ext cx="103812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Effect of lemongrass (cymbopogon citratus) and ginger extract incorporation on the microbiological stability and shelf life of pito</a:t>
            </a:r>
            <a:endParaRPr sz="2900"/>
          </a:p>
        </p:txBody>
      </p:sp>
      <p:sp>
        <p:nvSpPr>
          <p:cNvPr id="87" name="Google Shape;87;p13"/>
          <p:cNvSpPr txBox="1"/>
          <p:nvPr/>
        </p:nvSpPr>
        <p:spPr>
          <a:xfrm>
            <a:off x="1152525" y="3425279"/>
            <a:ext cx="98869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C49102"/>
                </a:solidFill>
                <a:latin typeface="Lato"/>
                <a:ea typeface="Lato"/>
                <a:cs typeface="Lato"/>
                <a:sym typeface="Lato"/>
              </a:rPr>
              <a:t>Enhancing Microbiological Stability &amp; Shelf Life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4217640"/>
            <a:ext cx="952500" cy="38100"/>
          </a:xfrm>
          <a:prstGeom prst="rect">
            <a:avLst/>
          </a:prstGeom>
          <a:solidFill>
            <a:srgbClr val="2E59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152525" y="4541490"/>
            <a:ext cx="9886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Research Proposal | December 14,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5735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18478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Pito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is a fermented alcoholic beverage made from malted sorghum (</a:t>
            </a:r>
            <a:r>
              <a:rPr b="0" i="1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Sorghum bicolor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). Despite its popularity, Pito suffers from rapid spoilage, typically within a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2 to 3 days interval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0480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5902"/>
                </a:solidFill>
                <a:latin typeface="Lato"/>
                <a:ea typeface="Lato"/>
                <a:cs typeface="Lato"/>
                <a:sym typeface="Lato"/>
              </a:rPr>
              <a:t>Lemongrass: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Contains essential oils rich in Citral (70-80%).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5433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49102"/>
                </a:solidFill>
                <a:latin typeface="Lato"/>
                <a:ea typeface="Lato"/>
                <a:cs typeface="Lato"/>
                <a:sym typeface="Lato"/>
              </a:rPr>
              <a:t>Ginger: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Renowned for bioactive compounds: Gingerols, Shogaols, and Paradols.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0175" y="1390650"/>
            <a:ext cx="4930324" cy="3083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90175" y="3352812"/>
            <a:ext cx="2619375" cy="195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19150" y="3243300"/>
            <a:ext cx="2619375" cy="18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Introduction: The Pito Challenge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3151"/>
            <a:ext cx="1104900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08176"/>
            <a:ext cx="2547937" cy="30325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05187" y="3508176"/>
            <a:ext cx="2547937" cy="30325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3508176"/>
            <a:ext cx="2547937" cy="30325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72562" y="3508176"/>
            <a:ext cx="2547937" cy="303252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3079551"/>
            <a:ext cx="1160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Specific Objectives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09625" y="1593651"/>
            <a:ext cx="111513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General Objective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09625" y="1993701"/>
            <a:ext cx="10620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To investigate the effect of Lemongrass and Ginger extract incorporation on the microbiological stability and shelf life extension of pito.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17840" y="4517826"/>
            <a:ext cx="20552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491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Antimicrobial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66775" y="5117901"/>
            <a:ext cx="1957387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Assess efficacy against spoilage organisms (</a:t>
            </a:r>
            <a:r>
              <a:rPr b="0" i="1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Lactobacillus</a:t>
            </a: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spp. &amp; </a:t>
            </a:r>
            <a:r>
              <a:rPr b="0" i="1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Aspergillus</a:t>
            </a: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spp.).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3651527" y="4517826"/>
            <a:ext cx="20552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491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Sensory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3700462" y="5117901"/>
            <a:ext cx="19573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Evaluate the sensory characteristics of the formulated beverage.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485215" y="4517826"/>
            <a:ext cx="20552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491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Physicochemical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534150" y="5117901"/>
            <a:ext cx="19573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Measure the major impact on physicochemical properties.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318902" y="4517826"/>
            <a:ext cx="20552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491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Nutritional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367837" y="5117901"/>
            <a:ext cx="19573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Determine added nutritional components through proximate analysis.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16868" y="382250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50556" y="382250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312818" y="3822501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117931" y="382250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71500" y="317301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Objectives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71500" y="993576"/>
            <a:ext cx="11049000" cy="28575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7400"/>
            <a:ext cx="3492549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57400"/>
            <a:ext cx="3492549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57400"/>
            <a:ext cx="3492549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066925"/>
            <a:ext cx="34734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71525" y="4162425"/>
            <a:ext cx="32471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491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Raw Materials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9324" y="2066925"/>
            <a:ext cx="34734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4549824" y="4162425"/>
            <a:ext cx="32471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491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Reagents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37624" y="2066925"/>
            <a:ext cx="34734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8328124" y="4162425"/>
            <a:ext cx="32471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491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Equipment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47725" y="46196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62025" y="4619625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Malted Sorghum grains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47725" y="49244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62025" y="4924425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Fresh Lemongrass leaves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47725" y="52292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62025" y="5229225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Fresh Ginger rhizomes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626024" y="46196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4740324" y="4619625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Ethanol, Distilled water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4626024" y="49244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4740324" y="4924425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Nutrient Agar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4626024" y="52292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4740324" y="5229225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PDA, MRS Agar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404324" y="46196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518624" y="4619625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Incubator, Autoclave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404324" y="49244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518624" y="4924425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pH Meter, Refractometer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404324" y="52292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518624" y="5229225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Spectrophotometer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Materials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3037"/>
            <a:ext cx="11049000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571500" y="357187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Methodology: Production Flow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571500" y="1033462"/>
            <a:ext cx="11049000" cy="28575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" name="Google Shape;178;p18"/>
          <p:cNvGraphicFramePr/>
          <p:nvPr/>
        </p:nvGraphicFramePr>
        <p:xfrm>
          <a:off x="2771775" y="16993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{3B3A5A9E-73E6-4DCD-A883-B24099CEC320}</a:tableStyleId>
              </a:tblPr>
              <a:tblGrid>
                <a:gridCol w="676275"/>
                <a:gridCol w="997150"/>
                <a:gridCol w="1238250"/>
                <a:gridCol w="997150"/>
                <a:gridCol w="2739625"/>
              </a:tblGrid>
              <a:tr h="55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Code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90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Pito (mL)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90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Lemongrass (mL)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90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Ginger (mL)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90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Description / Comment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902"/>
                    </a:solidFill>
                  </a:tcPr>
                </a:tc>
              </a:tr>
              <a:tr h="55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 (Pure Pito)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Lemongrass Alone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</a:tr>
              <a:tr h="55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Lemongrass Ratio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Moderate Mix (1:1 Ratio)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</a:tr>
              <a:tr h="55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Ginger Ratio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Ginger Alone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179" name="Google Shape;179;p18"/>
          <p:cNvSpPr txBox="1"/>
          <p:nvPr/>
        </p:nvSpPr>
        <p:spPr>
          <a:xfrm>
            <a:off x="2771775" y="5798641"/>
            <a:ext cx="6648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* T1 is the Control variable containing 100% Pito base with no extracts.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2771775" y="3031777"/>
            <a:ext cx="67627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3448050" y="3031777"/>
            <a:ext cx="99714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4445198" y="3031777"/>
            <a:ext cx="12382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5683448" y="3031777"/>
            <a:ext cx="99714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6680596" y="3031777"/>
            <a:ext cx="273962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2771775" y="3544192"/>
            <a:ext cx="67627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3448050" y="3544192"/>
            <a:ext cx="99714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4445198" y="3544192"/>
            <a:ext cx="12382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5683448" y="3544192"/>
            <a:ext cx="99714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6680596" y="3544192"/>
            <a:ext cx="273962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2771775" y="4056608"/>
            <a:ext cx="67627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3448050" y="4056608"/>
            <a:ext cx="99714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4445198" y="4056608"/>
            <a:ext cx="12382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683448" y="4056608"/>
            <a:ext cx="99714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680596" y="4056608"/>
            <a:ext cx="273962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2771775" y="4569023"/>
            <a:ext cx="67627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3448050" y="4569023"/>
            <a:ext cx="99714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4445198" y="4569023"/>
            <a:ext cx="12382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5683448" y="4569023"/>
            <a:ext cx="99714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6680596" y="4569023"/>
            <a:ext cx="273962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2771775" y="5081438"/>
            <a:ext cx="67627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3448050" y="5081438"/>
            <a:ext cx="99714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4445198" y="5081438"/>
            <a:ext cx="12382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5683448" y="5081438"/>
            <a:ext cx="99714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6680596" y="5081438"/>
            <a:ext cx="273962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2771775" y="5593853"/>
            <a:ext cx="67627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3448050" y="5593853"/>
            <a:ext cx="99714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4445198" y="5593853"/>
            <a:ext cx="12382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5683448" y="5593853"/>
            <a:ext cx="99714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6680596" y="5593853"/>
            <a:ext cx="273962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Formulation Table</a:t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7554"/>
            <a:ext cx="2547937" cy="2788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577554"/>
            <a:ext cx="2547937" cy="2788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577554"/>
            <a:ext cx="2547937" cy="2788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62" y="2577554"/>
            <a:ext cx="2547937" cy="278874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/>
        </p:nvSpPr>
        <p:spPr>
          <a:xfrm>
            <a:off x="817840" y="3587204"/>
            <a:ext cx="20552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491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Microbiological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866775" y="4187279"/>
            <a:ext cx="19573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Inhibition Zone (Lactobacillus/Aspergillus) &amp; Total Viable Count.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3651527" y="3587204"/>
            <a:ext cx="20552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491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Sensory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3700462" y="4187279"/>
            <a:ext cx="19573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50 Panelists (9-point Hedonic Scale). Aroma, Taste, Mouthfeel, Overall.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6485215" y="3587204"/>
            <a:ext cx="20552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491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Physicochemical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6534150" y="4187279"/>
            <a:ext cx="19573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Daily monitoring of pH, TTA, Alcohol % v/v, and Turbidity.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9318902" y="3587204"/>
            <a:ext cx="20552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491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Proximate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9367837" y="4187279"/>
            <a:ext cx="19573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Crude protein, moisture, ash content, and carbohydrate profile.</a:t>
            </a:r>
            <a:endParaRPr/>
          </a:p>
        </p:txBody>
      </p:sp>
      <p:pic>
        <p:nvPicPr>
          <p:cNvPr descr="image.png" id="229" name="Google Shape;22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59718" y="2891879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93406" y="2891879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84243" y="289187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17931" y="289187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Analysis Plan</a:t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57350"/>
            <a:ext cx="5286375" cy="375865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 txBox="1"/>
          <p:nvPr/>
        </p:nvSpPr>
        <p:spPr>
          <a:xfrm>
            <a:off x="571500" y="1809750"/>
            <a:ext cx="5286375" cy="9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5902"/>
                </a:solidFill>
                <a:latin typeface="Lato"/>
                <a:ea typeface="Lato"/>
                <a:cs typeface="Lato"/>
                <a:sym typeface="Lato"/>
              </a:rPr>
              <a:t>Antimicrobial Efficacy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Significant inhibition of Lactobacillus and Aspergillus, extending stability beyond 2-3 days.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571500" y="3023145"/>
            <a:ext cx="5286375" cy="9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5902"/>
                </a:solidFill>
                <a:latin typeface="Lato"/>
                <a:ea typeface="Lato"/>
                <a:cs typeface="Lato"/>
                <a:sym typeface="Lato"/>
              </a:rPr>
              <a:t>Sensory Acceptance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Identification of an optimal ratio (e.g., T4 or T5) that masks spoilage without overpowering taste.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571500" y="4236541"/>
            <a:ext cx="5286375" cy="9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5902"/>
                </a:solidFill>
                <a:latin typeface="Lato"/>
                <a:ea typeface="Lato"/>
                <a:cs typeface="Lato"/>
                <a:sym typeface="Lato"/>
              </a:rPr>
              <a:t>Physicochemical Stability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Maintenance of stable pH and acidity levels, delaying the souring process.</a:t>
            </a:r>
            <a:endParaRPr/>
          </a:p>
        </p:txBody>
      </p:sp>
      <p:pic>
        <p:nvPicPr>
          <p:cNvPr descr="image.png" id="244" name="Google Shape;24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57350"/>
            <a:ext cx="5286375" cy="372055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0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Expected Outcomes</a:t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/>
          <p:nvPr/>
        </p:nvSpPr>
        <p:spPr>
          <a:xfrm>
            <a:off x="571500" y="3405187"/>
            <a:ext cx="11049000" cy="3810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521780" y="3910012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Weeks 1-2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571500" y="4357687"/>
            <a:ext cx="19887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Sourcing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Extract Prep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2786795" y="3910012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Weeks 3-4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2836515" y="4357687"/>
            <a:ext cx="19887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Production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Formulation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5051810" y="3910012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Weeks 5-8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5101530" y="4357687"/>
            <a:ext cx="19887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Lab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Analysis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7316825" y="3910012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Weeks 9-10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7366545" y="4357687"/>
            <a:ext cx="19887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Sensory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Evaluation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9581841" y="3910012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Weeks 11-12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9631560" y="4357687"/>
            <a:ext cx="19887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Analysis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Submission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Timeline (12 Weeks)</a:t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1327770" y="5157787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FAF9F6"/>
          </a:solidFill>
          <a:ln cap="flat" cmpd="sng" w="38100">
            <a:solidFill>
              <a:srgbClr val="2E59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3592785" y="5157787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FAF9F6"/>
          </a:solidFill>
          <a:ln cap="flat" cmpd="sng" w="38100">
            <a:solidFill>
              <a:srgbClr val="2E59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5857800" y="5157787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FAF9F6"/>
          </a:solidFill>
          <a:ln cap="flat" cmpd="sng" w="38100">
            <a:solidFill>
              <a:srgbClr val="2E59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8122815" y="5157787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FAF9F6"/>
          </a:solidFill>
          <a:ln cap="flat" cmpd="sng" w="38100">
            <a:solidFill>
              <a:srgbClr val="2E59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10387831" y="5157787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FAF9F6"/>
          </a:solidFill>
          <a:ln cap="flat" cmpd="sng" w="38100">
            <a:solidFill>
              <a:srgbClr val="2E59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 txBox="1"/>
          <p:nvPr/>
        </p:nvSpPr>
        <p:spPr>
          <a:xfrm>
            <a:off x="942975" y="2752725"/>
            <a:ext cx="108585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Adadi, P., &amp; Kanwugu, O. N. (2020).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Pito fermentation: An indigenous technology in Northern Ghana.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Journal of Ethnic Foods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, 7(1), 1–10.</a:t>
            </a:r>
            <a:endParaRPr sz="15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Avicor, S. W., et al. (2016).</a:t>
            </a:r>
            <a:r>
              <a:rPr lang="en-US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Characterization of the microbial community in pito wort. </a:t>
            </a:r>
            <a:r>
              <a:rPr i="1" lang="en-US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African Journal of Microbiology Research</a:t>
            </a:r>
            <a:r>
              <a:rPr lang="en-US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, 10(20), 690–697.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He, Y., et al. (2023).</a:t>
            </a:r>
            <a:r>
              <a:rPr lang="en-US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Antibacterial activity of ginger essential oil against Listeria monocytogenes. </a:t>
            </a:r>
            <a:r>
              <a:rPr i="1" lang="en-US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Food Control</a:t>
            </a:r>
            <a:r>
              <a:rPr lang="en-US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, 145, 109462.</a:t>
            </a:r>
            <a:endParaRPr sz="15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Snyder, A. B., et al. (2024).</a:t>
            </a:r>
            <a:r>
              <a:rPr lang="en-US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Antimicrobial efficacy of lemon grass oil in apple cider. </a:t>
            </a:r>
            <a:r>
              <a:rPr i="1" lang="en-US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Journal of Food Protection</a:t>
            </a:r>
            <a:r>
              <a:rPr lang="en-US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, 87(3), 100123.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571500" y="2752725"/>
            <a:ext cx="38100" cy="60960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762000" y="3552825"/>
            <a:ext cx="1085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571500" y="3552825"/>
            <a:ext cx="38100" cy="60960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571500" y="4352925"/>
            <a:ext cx="38100" cy="30480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571500" y="4848225"/>
            <a:ext cx="38100" cy="304800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E59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References</a:t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C49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